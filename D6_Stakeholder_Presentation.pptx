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 Goods</c:v>
                </c:pt>
              </c:strCache>
            </c:strRef>
          </c:tx>
          <c:spPr>
            <a:solidFill>
              <a:srgbClr val="6A1B9A"/>
            </a:solidFill>
            <a:ln w="38100" cap="flat">
              <a:solidFill>
                <a:srgbClr val="6A1B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109.3</c:v>
                </c:pt>
                <c:pt idx="1">
                  <c:v>113.5</c:v>
                </c:pt>
                <c:pt idx="2">
                  <c:v>111</c:v>
                </c:pt>
                <c:pt idx="3">
                  <c:v>117.2</c:v>
                </c:pt>
                <c:pt idx="4">
                  <c:v>119.5</c:v>
                </c:pt>
                <c:pt idx="5">
                  <c:v>105.7</c:v>
                </c:pt>
                <c:pt idx="6">
                  <c:v>100.2</c:v>
                </c:pt>
                <c:pt idx="7">
                  <c:v>96.5</c:v>
                </c:pt>
                <c:pt idx="8">
                  <c:v>100.2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Retail</c:v>
                </c:pt>
              </c:strCache>
            </c:strRef>
          </c:tx>
          <c:spPr>
            <a:solidFill>
              <a:srgbClr val="2E75B6"/>
            </a:solidFill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97.9</c:v>
                </c:pt>
                <c:pt idx="1">
                  <c:v>100</c:v>
                </c:pt>
                <c:pt idx="2">
                  <c:v>102.8</c:v>
                </c:pt>
                <c:pt idx="3">
                  <c:v>103.7</c:v>
                </c:pt>
                <c:pt idx="4">
                  <c:v>107.3</c:v>
                </c:pt>
                <c:pt idx="5">
                  <c:v>103.8</c:v>
                </c:pt>
                <c:pt idx="6">
                  <c:v>100.4</c:v>
                </c:pt>
                <c:pt idx="7">
                  <c:v>99.9</c:v>
                </c:pt>
                <c:pt idx="8">
                  <c:v>101.7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Non-Store Index</c:v>
                </c:pt>
              </c:strCache>
            </c:strRef>
          </c:tx>
          <c:spPr>
            <a:solidFill>
              <a:srgbClr val="0083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</c:v>
                </c:pt>
                <c:pt idx="1">
                  <c:v>78.3</c:v>
                </c:pt>
                <c:pt idx="2">
                  <c:v>89.5</c:v>
                </c:pt>
                <c:pt idx="3">
                  <c:v>119.8</c:v>
                </c:pt>
                <c:pt idx="4">
                  <c:v>121.6</c:v>
                </c:pt>
                <c:pt idx="5">
                  <c:v>103.3</c:v>
                </c:pt>
                <c:pt idx="6">
                  <c:v>100.1</c:v>
                </c:pt>
                <c:pt idx="7">
                  <c:v>102.2</c:v>
                </c:pt>
                <c:pt idx="8">
                  <c:v>105.7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— STAKEHOLDER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High Street Retail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Footfall Analysis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Findings &amp; Recommendations for Mid-Size Retailers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[Surname]  |  March 2026  |  D6 — Stakeholder Presentation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ONS Retail Sales Index  •  109 months of data  •  Jan 2017 – Jan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97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097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mid-size retailers need this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8288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analysed and how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560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560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2560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data-driven insights from 109 months of ONS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2918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291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3291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actionable steps with effort ratings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0233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023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4023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move from analysis to action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84048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73152" cy="3474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761"/>
                </a:solidFill>
              </a:rPr>
              <a:t>Mid-size retailers (50–500 stores) lack a data-driven framework for: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Understanding how footfall decline varies by sub-sector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Identifying which stores and categories are most affected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Making staffing and investment decisions on evidence, not intuition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Planning for seasonal variation in a post-pandemic environment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Erosion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9019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in-store customers = lower sales volume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Waste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587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labour costs while footfall drops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273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stores consuming lease costs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3703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Blind Spot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3959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decisions made on gut feel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2017 – Jan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005840"/>
            <a:ext cx="182880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monthly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182880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Year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= 100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005840"/>
            <a:ext cx="182880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Official Stats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852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ONS Retail Sales Index (DRSI) — Chained volume, seasonally adjusted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Measure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Sales volume index (2019=100), removes price inflation effects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Indexing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Jan 2019 = 100 baseline for like-for-like comparison across sectors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Analysis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YoY change, seasonal decomposition, 2019 vs 2025 average comparison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Tools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Dashboard (D4), Python data processing, Power BI-style visualisations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retail has recovered.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mix has fundamentally shifted.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468880" cy="105156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54864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9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035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Jan 2019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286000"/>
            <a:ext cx="2468880" cy="105156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286000"/>
            <a:ext cx="54864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359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+40.4%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3035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surge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468880" cy="105156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86000"/>
            <a:ext cx="54864" cy="10515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359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−4.6%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3035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2019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2468880" cy="105156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566160"/>
            <a:ext cx="54864" cy="10515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886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−2.9%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4400" y="4315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recovery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3566160"/>
            <a:ext cx="2468880" cy="105156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566160"/>
            <a:ext cx="54864" cy="10515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11880" y="3886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−6.3%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611880" y="4315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fall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566160"/>
            <a:ext cx="2468880" cy="105156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566160"/>
            <a:ext cx="54864" cy="10515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Stores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886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−9.9%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309360" y="4315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decline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 GOODS: THE STEEPEST DECLINE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914400"/>
            <a:ext cx="54864" cy="13716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−9.7%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0" y="1417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average vs 2019 average.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sustained decline of any sub-sector.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2468880"/>
            <a:ext cx="310896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468880"/>
            <a:ext cx="54864" cy="137160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7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135.6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943600" y="2971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peak (May 2021).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anomalous — do not benchmark against it.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4297680"/>
            <a:ext cx="54864" cy="54864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2976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The pandemic surge was a demand pull-forward, not a new baseline. Benchmark to 2019 levels.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NON-STORE RETAIL: PLATEAU AFTER SURGE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914400"/>
            <a:ext cx="54864" cy="34747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141732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Pre-pandemic: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761"/>
                </a:solidFill>
              </a:rPr>
              <a:t>Steady growth from 72 → 90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Pandemic surge: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761"/>
                </a:solidFill>
              </a:rPr>
              <a:t>+34% in one year (2019→2020)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Correction: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761"/>
                </a:solidFill>
              </a:rPr>
              <a:t>−15% in 2022 as stores reopened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New equilibrium: </a:t>
            </a:r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E2761"/>
                </a:solidFill>
              </a:rPr>
              <a:t>Settled ~18% above 2019, growing 2–3% annually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</a:rPr>
              <a:t>Plan for gradual, not exponential, online migration.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PATTERNS HAVE SHIFTED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monthly averages (2022–2025) show distinct peak and trough months for non-food retail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56032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256032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Non-Food Stores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(103.3)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(100.8)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2.5 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280160"/>
            <a:ext cx="256032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280160"/>
            <a:ext cx="2560320" cy="45720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&amp; Clothing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(99.2)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468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697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(96.8)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2.4 pts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56032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Goods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(102.5)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468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697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(99.3)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3.1 pts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1148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1148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March is consistently the peak month across all non-food sub-sectors. Shift promotional investment and staffing priority from January to March.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grounded in specific data points from the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21792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271016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71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staffing rotas to seasonal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44168"/>
            <a:ext cx="731520" cy="3108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44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months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118872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cost reduction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938528"/>
            <a:ext cx="7680960" cy="621792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020824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19385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household goods to 2019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093976"/>
            <a:ext cx="731520" cy="310896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0939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1938528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193852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targets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688336"/>
            <a:ext cx="7680960" cy="621792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2770632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268833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department store portfolio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843784"/>
            <a:ext cx="731520" cy="3108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84378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2688336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2688336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438144"/>
            <a:ext cx="7680960" cy="621792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760" y="3438144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promo spend: January → March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3593592"/>
            <a:ext cx="731520" cy="310896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59359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3438144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3438144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uplift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4187952"/>
            <a:ext cx="7680960" cy="621792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68680" y="427024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08760" y="4187952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monthly dashboard monitoring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46320" y="4343400"/>
            <a:ext cx="731520" cy="3108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3434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60720" y="418795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0" y="418795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82880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0876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Endorse Recommendations 1 &amp; 5 (low effort, high impact)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Integrate D4 dashboard into monthly management reporting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005840"/>
            <a:ext cx="18288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1417320"/>
            <a:ext cx="182880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150876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Recalibrate household goods targets to 2019 baseline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Reallocate Q1 promotional budget from January to March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18288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182880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50876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Commission store-level profitability review for dept store formats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Supplement with proprietary EPOS and footfall counter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005840"/>
            <a:ext cx="18288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0" y="1417320"/>
            <a:ext cx="182880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78040" y="150876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Quarterly refresh of dashboard and findings as ONS publishes new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</a:rPr>
              <a:t>Monitor whether online growth rate accelerates or stabilises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required: Endorse the 5 recommendations and allocate ownership for implementation.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286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[Surname]  |  Business Analyst  |  March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 deliverables: D1 Problem Statement  •  D2 Requirements  •  D3 Process Flows  •  D4 Dashboard  •  D5 Findings Report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ONS Retail Sales Index (ons.gov.uk) — Accredited Official Statistics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Retail Footfall Analysis — Findings &amp; Recommendations</dc:title>
  <dc:subject>PptxGenJS Presentation</dc:subject>
  <dc:creator>Manoj [Surname]</dc:creator>
  <cp:lastModifiedBy>Manoj [Surname]</cp:lastModifiedBy>
  <cp:revision>1</cp:revision>
  <dcterms:created xsi:type="dcterms:W3CDTF">2026-03-21T14:18:14Z</dcterms:created>
  <dcterms:modified xsi:type="dcterms:W3CDTF">2026-03-21T14:18:14Z</dcterms:modified>
</cp:coreProperties>
</file>